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73" r:id="rId3"/>
    <p:sldId id="274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8" r:id="rId13"/>
    <p:sldId id="279" r:id="rId14"/>
    <p:sldId id="280" r:id="rId15"/>
    <p:sldId id="283" r:id="rId16"/>
    <p:sldId id="284" r:id="rId17"/>
    <p:sldId id="281" r:id="rId18"/>
    <p:sldId id="282" r:id="rId19"/>
    <p:sldId id="272" r:id="rId20"/>
    <p:sldId id="271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23" autoAdjust="0"/>
    <p:restoredTop sz="94660"/>
  </p:normalViewPr>
  <p:slideViewPr>
    <p:cSldViewPr snapToGrid="0">
      <p:cViewPr varScale="1">
        <p:scale>
          <a:sx n="73" d="100"/>
          <a:sy n="73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nd Kanchanolkar" userId="7711173b030e07a3" providerId="LiveId" clId="{34F90857-1160-410F-9F0B-2AB2F3D21459}"/>
    <pc:docChg chg="custSel modSld">
      <pc:chgData name="Mukund Kanchanolkar" userId="7711173b030e07a3" providerId="LiveId" clId="{34F90857-1160-410F-9F0B-2AB2F3D21459}" dt="2026-08-17T08:25:30.478" v="236" actId="27636"/>
      <pc:docMkLst>
        <pc:docMk/>
      </pc:docMkLst>
      <pc:sldChg chg="modSp mod">
        <pc:chgData name="Mukund Kanchanolkar" userId="7711173b030e07a3" providerId="LiveId" clId="{34F90857-1160-410F-9F0B-2AB2F3D21459}" dt="2026-08-17T08:25:30.478" v="236" actId="27636"/>
        <pc:sldMkLst>
          <pc:docMk/>
          <pc:sldMk cId="3471950669" sldId="256"/>
        </pc:sldMkLst>
        <pc:spChg chg="mod">
          <ac:chgData name="Mukund Kanchanolkar" userId="7711173b030e07a3" providerId="LiveId" clId="{34F90857-1160-410F-9F0B-2AB2F3D21459}" dt="2026-08-17T08:25:30.478" v="236" actId="27636"/>
          <ac:spMkLst>
            <pc:docMk/>
            <pc:sldMk cId="3471950669" sldId="256"/>
            <ac:spMk id="3" creationId="{BEF097C3-0268-D312-D4BA-86D712D77EFF}"/>
          </ac:spMkLst>
        </pc:spChg>
      </pc:sldChg>
      <pc:sldChg chg="modSp mod">
        <pc:chgData name="Mukund Kanchanolkar" userId="7711173b030e07a3" providerId="LiveId" clId="{34F90857-1160-410F-9F0B-2AB2F3D21459}" dt="2026-08-17T08:19:26.634" v="96" actId="20577"/>
        <pc:sldMkLst>
          <pc:docMk/>
          <pc:sldMk cId="195481067" sldId="261"/>
        </pc:sldMkLst>
        <pc:spChg chg="mod">
          <ac:chgData name="Mukund Kanchanolkar" userId="7711173b030e07a3" providerId="LiveId" clId="{34F90857-1160-410F-9F0B-2AB2F3D21459}" dt="2026-08-17T08:17:30.521" v="1" actId="20577"/>
          <ac:spMkLst>
            <pc:docMk/>
            <pc:sldMk cId="195481067" sldId="261"/>
            <ac:spMk id="2" creationId="{8DB087A5-41A7-BB50-841F-C897B5389412}"/>
          </ac:spMkLst>
        </pc:spChg>
        <pc:spChg chg="mod">
          <ac:chgData name="Mukund Kanchanolkar" userId="7711173b030e07a3" providerId="LiveId" clId="{34F90857-1160-410F-9F0B-2AB2F3D21459}" dt="2026-08-17T08:19:26.634" v="96" actId="20577"/>
          <ac:spMkLst>
            <pc:docMk/>
            <pc:sldMk cId="195481067" sldId="261"/>
            <ac:spMk id="3" creationId="{C7792BEB-7F75-524D-CFCA-5EC9D0539C7F}"/>
          </ac:spMkLst>
        </pc:spChg>
      </pc:sldChg>
      <pc:sldChg chg="modSp mod">
        <pc:chgData name="Mukund Kanchanolkar" userId="7711173b030e07a3" providerId="LiveId" clId="{34F90857-1160-410F-9F0B-2AB2F3D21459}" dt="2026-08-17T08:22:28.625" v="135" actId="20577"/>
        <pc:sldMkLst>
          <pc:docMk/>
          <pc:sldMk cId="3482284737" sldId="265"/>
        </pc:sldMkLst>
        <pc:spChg chg="mod">
          <ac:chgData name="Mukund Kanchanolkar" userId="7711173b030e07a3" providerId="LiveId" clId="{34F90857-1160-410F-9F0B-2AB2F3D21459}" dt="2026-08-17T08:22:28.625" v="135" actId="20577"/>
          <ac:spMkLst>
            <pc:docMk/>
            <pc:sldMk cId="3482284737" sldId="265"/>
            <ac:spMk id="3" creationId="{A803B1C6-7930-B97C-FB49-3281260AA31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9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7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0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6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5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02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94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4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51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762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54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99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63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07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9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4B42529-9D4C-42D1-A5DE-2B8D1BE6FF3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ABACF-F6DE-4DF6-86F2-6B4D6D07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59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24EA3-F533-EC43-6022-3C55011A8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01216" y="448071"/>
            <a:ext cx="12331959" cy="126896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Segmentation Project and Purchase Behavior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097C3-0268-D312-D4BA-86D712D77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4717" y="5948263"/>
            <a:ext cx="2827283" cy="461666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 : Pranav a naik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BE7AF2-8A0C-4BE5-3798-17994D8A2280}"/>
              </a:ext>
            </a:extLst>
          </p:cNvPr>
          <p:cNvSpPr txBox="1"/>
          <p:nvPr/>
        </p:nvSpPr>
        <p:spPr>
          <a:xfrm>
            <a:off x="4301412" y="1717033"/>
            <a:ext cx="736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Project Code – CDACL002</a:t>
            </a:r>
          </a:p>
        </p:txBody>
      </p:sp>
    </p:spTree>
    <p:extLst>
      <p:ext uri="{BB962C8B-B14F-4D97-AF65-F5344CB8AC3E}">
        <p14:creationId xmlns:p14="http://schemas.microsoft.com/office/powerpoint/2010/main" val="3471950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0CCB-F2BB-B1B8-EEBC-B03B41842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1968"/>
            <a:ext cx="12192000" cy="128089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D4F89-A128-498F-3787-ED276610D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0189"/>
            <a:ext cx="12192000" cy="377762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Analyze customer data to identify trends, segments, and 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159155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39B8C-2255-EF77-1EE0-849269E5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024"/>
            <a:ext cx="12191998" cy="128089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A87B0-C1FB-0D9A-775A-67600A435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6914"/>
            <a:ext cx="12192000" cy="5421085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Identify product categories where discounts should be applied.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Analyze card spending across age groups.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Study seasonal and location-based shopping behavior.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 customer clustering for targeted marketing.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515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309E-57BC-0ADD-DBA7-9F5E7E17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0090"/>
            <a:ext cx="12192000" cy="120364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AF52D-88A8-7F04-4B7F-6250779CC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3738"/>
            <a:ext cx="12192000" cy="5414931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3900 customer records.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Attributes include Age, Gender, Category, Purchase Amount, Season,      Location, Discount Applied, Payment Method.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Used for understanding customer behavior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78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87A5-41A7-BB50-841F-C897B538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5148"/>
            <a:ext cx="12192000" cy="73721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92BEB-7F75-524D-CFCA-5EC9D0539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5862"/>
            <a:ext cx="12192000" cy="5672138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BI – Visualization &amp; Dashboard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Orange – Customer Clustering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Excel  – Data cleaning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MySQL –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stor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the data, Retrieve the required data from the </a:t>
            </a:r>
            <a:r>
              <a:rPr lang="en-US" sz="2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mysql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by using </a:t>
            </a:r>
            <a:r>
              <a:rPr lang="en-US" sz="2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queries.</a:t>
            </a:r>
          </a:p>
        </p:txBody>
      </p:sp>
    </p:spTree>
    <p:extLst>
      <p:ext uri="{BB962C8B-B14F-4D97-AF65-F5344CB8AC3E}">
        <p14:creationId xmlns:p14="http://schemas.microsoft.com/office/powerpoint/2010/main" val="195481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3F97-0F7D-A498-7C09-021710032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507"/>
            <a:ext cx="12192000" cy="81555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64333-3737-4D91-2DB7-8F97E320A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2352"/>
            <a:ext cx="12192000" cy="5775648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Removed null values.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Converted categorical values to numeric.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Normalized numerical columns.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Prepared data for clustering.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119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660A-2AF9-EF44-8153-04FE5A83E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099"/>
            <a:ext cx="12192000" cy="79187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Objective 1: Discount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5CF75-28B3-17A0-39EF-40D10A88C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6050"/>
            <a:ext cx="10515600" cy="4351338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Identified categories with high discount dependency.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Electronics, Sports &amp; Home Decor showed higher discount impact.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These categories attract customers through offers.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B246A-7E24-C91F-42D8-4753A0530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54" y="3429000"/>
            <a:ext cx="10133045" cy="32237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6787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4E41B-5385-3348-43C5-F658BE154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531"/>
            <a:ext cx="12192000" cy="8851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Objective 2: Card spending by Age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C2655-0DAE-BCD9-A3B5-7826DE9CC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991"/>
            <a:ext cx="10515600" cy="339018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 group 46-60 shows highest card spend based on all seasons.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 36-45 shows highest spending based on average purchased amount.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Younger customers prefer online payments.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Older customers show stable purchasing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96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0305-A59C-BD39-FEE7-73BA53EF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0926"/>
            <a:ext cx="12191999" cy="87811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Season &amp; Location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3B1C6-7930-B97C-FB49-3281260AA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1641"/>
            <a:ext cx="12269754" cy="562635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Higher sales are observed during the festive season among the 46–60 age group.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Season-wise, the highest sales occur in the spring season, whereas summer records the lowest sales.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 seasonal demand patterns are observed.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Chicago records higher sales compared to other locations, whereas Houston shows the lowest sales.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Location-wise, the highest sales are from the 46–60 age group in Chicago, whereas New York records the lowest sales.</a:t>
            </a:r>
            <a:endParaRPr 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284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96C3-63EC-1E8D-5970-A75E55F8E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595"/>
            <a:ext cx="12191999" cy="128089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96F3D-829E-A751-34FD-0CBDD357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82484"/>
            <a:ext cx="12191999" cy="547551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K-Means clustering used.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Based on purchase behavior and spending patterns.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4 customer segments identified.</a:t>
            </a:r>
          </a:p>
          <a:p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644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9FFC-402F-4CD3-D388-F6800C1B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977"/>
            <a:ext cx="12192000" cy="91544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Cluster 1: High Value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0B03F-DD96-C9FA-40E3-275623D3F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0939"/>
            <a:ext cx="12191999" cy="56070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Key Characteristics:- </a:t>
            </a:r>
            <a:endParaRPr lang="en-US" sz="3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Highest purchase amount among all clusters</a:t>
            </a:r>
            <a:r>
              <a:rPr lang="en-US" sz="3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3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Frequent shoppers with regular purchase behavior</a:t>
            </a:r>
            <a:r>
              <a:rPr lang="en-US" sz="3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3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Low dependency on discounts or promotional offers</a:t>
            </a:r>
            <a:r>
              <a:rPr lang="en-US" sz="3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High brand loyalty and repeat purchase rate.</a:t>
            </a:r>
          </a:p>
          <a:p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Behavioral Insights:-</a:t>
            </a:r>
          </a:p>
          <a:p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Customers in this cluster prefer quality over price.</a:t>
            </a:r>
          </a:p>
          <a:p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They are willing to pay more for better products or services.</a:t>
            </a:r>
          </a:p>
          <a:p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Purchasing decisions are less influenced by discounts.</a:t>
            </a:r>
          </a:p>
          <a:p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Represent the </a:t>
            </a:r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most profitable segment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of the customer base.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00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05810-16B4-C843-FFC9-C4991C19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2DC23-9FE9-9D57-BF66-13D41C5E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26747"/>
            <a:ext cx="11064535" cy="91544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Business Interpretation:-</a:t>
            </a: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ECD99-DD23-555B-DB02-53718ADB3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575"/>
            <a:ext cx="12192000" cy="550442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cluster represents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premium and loyal customers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who contribute significantly to overall revenue. Retaining this group is more cost-effective than acquiring new customers.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Recommended Business Strategies:-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Offer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exclusive access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new products or premium services.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Introduce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loyalty reward programs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Provide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personalized offers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instead of heavy discounts.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Focus on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relationship-based marketing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25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74B31-6B80-362D-C23F-F3136F02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8B7F3-AC8C-5FBE-D88C-D00736A6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3308"/>
            <a:ext cx="11504612" cy="91544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Cluster 2: Discount Seekers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4DAB9-655B-E28E-E713-AECAF165C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84989"/>
            <a:ext cx="12192000" cy="5673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Key Characteristics:- </a:t>
            </a: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Highly sensitive to discounts and promotions.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Purchase mainly during sales or when offers are available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Moderate purchase frequency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Lower average purchase value compared to premium customers.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Behavioral Insights:-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Promotions strongly influence their buying decisions.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They are likely to abandon purchases without discounts.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090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BEABE-D2E5-2545-5E5F-1B22DB64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3766-2FF8-5583-82D6-1B0D2ABAD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9805"/>
            <a:ext cx="12335069" cy="6474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Business Interpretation:- </a:t>
            </a: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group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price-conscious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motivated by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discounts rather than brand loyalty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Recommended Strategies:-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Flash sales and limited-time offers.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Coupon-based marketing campaigns.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Push notifications and deal alerts.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62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52D24-AB8D-48C2-A148-D7860F72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36A2-06B8-0885-F948-83A18485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0927"/>
            <a:ext cx="12192000" cy="91544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Cluster 3: 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Occasional Buyers</a:t>
            </a:r>
            <a:endParaRPr lang="en-US" sz="3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066B2-2CE4-52C7-03F8-97FDC786B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0269"/>
            <a:ext cx="12191999" cy="5597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Key Characteristics:- </a:t>
            </a: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Low purchase frequency.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Infrequent shopping behavior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Moderate purchase frequency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Behavioral Insights:-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They represent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growth opportunity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Potential to be converted into loyal customers.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993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4B53D-2258-563E-998D-137733F4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F1FC7-8039-FB82-4898-893037D70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51144"/>
            <a:ext cx="12269755" cy="6306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Business Interpretation:- </a:t>
            </a: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These customers shop occasionally and are not strongly engaged with the brand.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Recommended Strategies:-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Personalized recommendations.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Loyalty points for repeat purchases.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Re-engagement emails and reminders.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231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ADB5B-D0DD-878F-C192-44746199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AC6BF-96A0-8930-7640-BD6EED62C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0257"/>
            <a:ext cx="12192000" cy="91544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Cluster 4: 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Seasonal Buyers</a:t>
            </a:r>
            <a:endParaRPr lang="en-US" sz="3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7846D-BA09-4217-B746-8917634EB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9633"/>
            <a:ext cx="12191999" cy="5598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Key Characteristics:- </a:t>
            </a: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High spending during specific seasons or festivals.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Minimal activity outside peak seasons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Strong seasonal purchasing pattern</a:t>
            </a:r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Behavioral Insights:-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Strong contributors during festive periods.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Important for seasonal revenue spikes.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021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2B9E3-1625-5353-E1DD-79E57F13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24612-6530-B697-4809-90E2E4B4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32482"/>
            <a:ext cx="12192000" cy="6493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Business Interpretation:- </a:t>
            </a: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Their purchasing behavior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event-driven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rather than consistent.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Recommended Strategies:-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Festival-based promotions (Diwali, Christmas, etc.)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Limited-time seasonal bundles.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Advance marketing before festive periods.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629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69B3-D698-51DF-A6F9-4A25A4F2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638"/>
            <a:ext cx="12191999" cy="1138334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Summary of each Cluster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0335BC-908C-1817-3579-9CA2CD8DE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584" y="1968759"/>
            <a:ext cx="8901404" cy="3750906"/>
          </a:xfrm>
        </p:spPr>
      </p:pic>
    </p:spTree>
    <p:extLst>
      <p:ext uri="{BB962C8B-B14F-4D97-AF65-F5344CB8AC3E}">
        <p14:creationId xmlns:p14="http://schemas.microsoft.com/office/powerpoint/2010/main" val="1843908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C1F3-3D4F-96F5-C2AB-4BDB6CA50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93306"/>
            <a:ext cx="12191999" cy="98904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769A1-41CE-6323-F0EF-A2F1CF373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2310"/>
            <a:ext cx="12191999" cy="563569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Personalized offers based on cluster.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Seasonal marketing campaigns.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Loyalty programs for repeat customers.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Optimize discounts for profitability.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638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7C2C-A6B4-581C-82E5-15A9437D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645"/>
            <a:ext cx="12191999" cy="78377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D128F-D629-7DC8-3B31-2E135C1E9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0971"/>
            <a:ext cx="12191999" cy="5617029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Data-driven segmentation improves decision making.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Helps increase revenue and customer satisfaction.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Supports targeted marketing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11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ACA3-20F0-7CB0-CDC7-9F5A5CB80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639266"/>
            <a:ext cx="12191999" cy="128089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87935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1337</TotalTime>
  <Words>778</Words>
  <Application>Microsoft Office PowerPoint</Application>
  <PresentationFormat>Widescreen</PresentationFormat>
  <Paragraphs>135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Century Gothic</vt:lpstr>
      <vt:lpstr>Segoe UI</vt:lpstr>
      <vt:lpstr>Wingdings 3</vt:lpstr>
      <vt:lpstr>Ion</vt:lpstr>
      <vt:lpstr>Customer Segmentation Project and Purchase Behavior Analysis</vt:lpstr>
      <vt:lpstr>Project Objective</vt:lpstr>
      <vt:lpstr>Problem Statement</vt:lpstr>
      <vt:lpstr>Dataset Overview</vt:lpstr>
      <vt:lpstr>Tools &amp; Technologies</vt:lpstr>
      <vt:lpstr>Data Preprocessing</vt:lpstr>
      <vt:lpstr>Objective 1: Discount Analysis</vt:lpstr>
      <vt:lpstr>Objective 2: Card spending by Age Group</vt:lpstr>
      <vt:lpstr>Season &amp; Location Analysis</vt:lpstr>
      <vt:lpstr>Customer Clustering</vt:lpstr>
      <vt:lpstr>Cluster 1: High Value Customers</vt:lpstr>
      <vt:lpstr>Business Interpretation:-</vt:lpstr>
      <vt:lpstr>Cluster 2: Discount Seekers</vt:lpstr>
      <vt:lpstr>PowerPoint Presentation</vt:lpstr>
      <vt:lpstr>Cluster 3: Occasional Buyers</vt:lpstr>
      <vt:lpstr>PowerPoint Presentation</vt:lpstr>
      <vt:lpstr>Cluster 4: Seasonal Buyers</vt:lpstr>
      <vt:lpstr>PowerPoint Presentation</vt:lpstr>
      <vt:lpstr>Summary of each Cluster</vt:lpstr>
      <vt:lpstr>Business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Poojary</dc:creator>
  <cp:lastModifiedBy>Mukund Kanchanolkar</cp:lastModifiedBy>
  <cp:revision>13</cp:revision>
  <dcterms:created xsi:type="dcterms:W3CDTF">2025-12-22T11:28:11Z</dcterms:created>
  <dcterms:modified xsi:type="dcterms:W3CDTF">2026-08-17T08:25:35Z</dcterms:modified>
</cp:coreProperties>
</file>